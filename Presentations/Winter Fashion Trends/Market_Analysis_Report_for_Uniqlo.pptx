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bg2">
                  <a:lumMod val="50000"/>
                </a:schemeClr>
              </a:solidFill>
              <a:ln w="9525">
                <a:noFill/>
              </a:ln>
              <a:effectLst/>
            </c:spPr>
          </c:marker>
          <c:dPt>
            <c:idx val="7"/>
            <c:marker>
              <c:symbol val="circle"/>
              <c:size val="10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95-429B-8E54-DA72EFAAF214}"/>
              </c:ext>
            </c:extLst>
          </c:dPt>
          <c:dPt>
            <c:idx val="9"/>
            <c:marker>
              <c:symbol val="circle"/>
              <c:size val="10"/>
              <c:spPr>
                <a:solidFill>
                  <a:srgbClr val="FF000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95-429B-8E54-DA72EFAAF2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506F9B6-93EF-481A-AFAC-105EFDDC3EC6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FB95-429B-8E54-DA72EFAAF2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9E20B44-E6ED-4E37-8F37-07F84B66371C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FB95-429B-8E54-DA72EFAAF21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3228E18-14AC-470D-A1BB-3A0C65654251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FB95-429B-8E54-DA72EFAAF21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5703CB60-C5FE-4EDD-9373-6B248FE5B765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FB95-429B-8E54-DA72EFAAF21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837C6F30-4885-439F-A8A3-A0A971956821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FB95-429B-8E54-DA72EFAAF21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0187F15E-D02B-494A-B4D7-4E05AD0027D9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FB95-429B-8E54-DA72EFAAF21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D54AB977-1953-4F72-8ADB-B5E63385039F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FB95-429B-8E54-DA72EFAAF21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C7E9ADE9-8278-4B31-AE1A-9463EB465ED9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FB95-429B-8E54-DA72EFAAF21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E7FF7DB0-93C7-40A2-BE99-2ADBD8678F90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FB95-429B-8E54-DA72EFAAF21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CC90D632-73BE-4F83-983B-2FEE1A83731A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FB95-429B-8E54-DA72EFAAF2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468.58</c:v>
                </c:pt>
                <c:pt idx="1">
                  <c:v>399.37</c:v>
                </c:pt>
                <c:pt idx="2">
                  <c:v>367.56</c:v>
                </c:pt>
                <c:pt idx="3">
                  <c:v>555.62</c:v>
                </c:pt>
                <c:pt idx="4">
                  <c:v>358.65</c:v>
                </c:pt>
                <c:pt idx="5">
                  <c:v>564.05499999999995</c:v>
                </c:pt>
                <c:pt idx="6">
                  <c:v>456.76</c:v>
                </c:pt>
                <c:pt idx="7">
                  <c:v>407.91</c:v>
                </c:pt>
                <c:pt idx="8">
                  <c:v>424.72500000000002</c:v>
                </c:pt>
                <c:pt idx="9">
                  <c:v>630.85500000000002</c:v>
                </c:pt>
              </c:numCache>
            </c:numRef>
          </c:xVal>
          <c:yVal>
            <c:numRef>
              <c:f>Sheet1!$B$2:$B$11</c:f>
              <c:numCache>
                <c:formatCode>#,##0.00</c:formatCode>
                <c:ptCount val="10"/>
                <c:pt idx="0">
                  <c:v>6.53</c:v>
                </c:pt>
                <c:pt idx="1">
                  <c:v>6.48</c:v>
                </c:pt>
                <c:pt idx="2">
                  <c:v>6.46</c:v>
                </c:pt>
                <c:pt idx="3">
                  <c:v>6.27</c:v>
                </c:pt>
                <c:pt idx="4">
                  <c:v>5.86</c:v>
                </c:pt>
                <c:pt idx="5">
                  <c:v>5.83</c:v>
                </c:pt>
                <c:pt idx="6">
                  <c:v>5.64</c:v>
                </c:pt>
                <c:pt idx="7">
                  <c:v>5.25</c:v>
                </c:pt>
                <c:pt idx="8">
                  <c:v>4.6900000000000004</c:v>
                </c:pt>
                <c:pt idx="9">
                  <c:v>4.6100000000000003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Sheet1!$D$2:$D$11</c15:f>
                <c15:dlblRangeCache>
                  <c:ptCount val="10"/>
                  <c:pt idx="0">
                    <c:v>Mango</c:v>
                  </c:pt>
                  <c:pt idx="1">
                    <c:v>Zara</c:v>
                  </c:pt>
                  <c:pt idx="2">
                    <c:v>Nike</c:v>
                  </c:pt>
                  <c:pt idx="3">
                    <c:v>Adidas</c:v>
                  </c:pt>
                  <c:pt idx="4">
                    <c:v>North Face</c:v>
                  </c:pt>
                  <c:pt idx="5">
                    <c:v>Levi's</c:v>
                  </c:pt>
                  <c:pt idx="6">
                    <c:v>Gucci</c:v>
                  </c:pt>
                  <c:pt idx="7">
                    <c:v>H&amp;M</c:v>
                  </c:pt>
                  <c:pt idx="8">
                    <c:v>Prada</c:v>
                  </c:pt>
                  <c:pt idx="9">
                    <c:v>Uniqlo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FB95-429B-8E54-DA72EFAAF2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244017424"/>
        <c:axId val="1244019344"/>
      </c:scatterChart>
      <c:valAx>
        <c:axId val="1244017424"/>
        <c:scaling>
          <c:orientation val="minMax"/>
          <c:min val="3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4019344"/>
        <c:crosses val="autoZero"/>
        <c:crossBetween val="midCat"/>
      </c:valAx>
      <c:valAx>
        <c:axId val="1244019344"/>
        <c:scaling>
          <c:orientation val="minMax"/>
          <c:min val="4"/>
        </c:scaling>
        <c:delete val="0"/>
        <c:axPos val="l"/>
        <c:numFmt formatCode="#,##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40174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Uniqlo Pricing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Cashmere</c:v>
                </c:pt>
                <c:pt idx="1">
                  <c:v>Cotton</c:v>
                </c:pt>
                <c:pt idx="2">
                  <c:v>Leather</c:v>
                </c:pt>
                <c:pt idx="3">
                  <c:v>Down</c:v>
                </c:pt>
                <c:pt idx="4">
                  <c:v>Fleece</c:v>
                </c:pt>
                <c:pt idx="5">
                  <c:v>Wool</c:v>
                </c:pt>
                <c:pt idx="6">
                  <c:v>Polyester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677.98</c:v>
                </c:pt>
                <c:pt idx="1">
                  <c:v>738.25</c:v>
                </c:pt>
                <c:pt idx="2">
                  <c:v>644.97</c:v>
                </c:pt>
                <c:pt idx="3">
                  <c:v>618.52499999999998</c:v>
                </c:pt>
                <c:pt idx="4">
                  <c:v>439.44500000000005</c:v>
                </c:pt>
                <c:pt idx="5">
                  <c:v>52.28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4E-4CBA-87A8-FEBE60A6B1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H&amp;M Pricing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Cashmere</c:v>
                </c:pt>
                <c:pt idx="1">
                  <c:v>Cotton</c:v>
                </c:pt>
                <c:pt idx="2">
                  <c:v>Leather</c:v>
                </c:pt>
                <c:pt idx="3">
                  <c:v>Down</c:v>
                </c:pt>
                <c:pt idx="4">
                  <c:v>Fleece</c:v>
                </c:pt>
                <c:pt idx="5">
                  <c:v>Wool</c:v>
                </c:pt>
                <c:pt idx="6">
                  <c:v>Polyester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463.22</c:v>
                </c:pt>
                <c:pt idx="1">
                  <c:v>460.19500000000005</c:v>
                </c:pt>
                <c:pt idx="2">
                  <c:v>480.56999999999994</c:v>
                </c:pt>
                <c:pt idx="3">
                  <c:v>0</c:v>
                </c:pt>
                <c:pt idx="4">
                  <c:v>536.81499999999994</c:v>
                </c:pt>
                <c:pt idx="5">
                  <c:v>91.32</c:v>
                </c:pt>
                <c:pt idx="6">
                  <c:v>389.24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4E-4CBA-87A8-FEBE60A6B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4044784"/>
        <c:axId val="1244038064"/>
      </c:barChart>
      <c:catAx>
        <c:axId val="1244044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4038064"/>
        <c:crosses val="autoZero"/>
        <c:auto val="1"/>
        <c:lblAlgn val="ctr"/>
        <c:lblOffset val="100"/>
        <c:noMultiLvlLbl val="0"/>
      </c:catAx>
      <c:valAx>
        <c:axId val="1244038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4044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E0E52-C3BE-C203-0C3A-F01CB2FC9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620526-CAA0-A3C5-CD50-127A5FD46A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C5444-7371-4F89-592C-39A6765B7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BA1F-4059-4662-8FCB-70C02FA34C24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D2D2-4A7C-56F2-6DB0-D09E88F3C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CE398-F31D-BCE8-0B43-1B4015EB1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943B-93D4-4F56-AE96-133B58FC1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1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F5BA-C78F-08DF-B73C-74742A8AB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BB254-7C7F-7C5E-C5DE-7B4DA652C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8517-3F13-3FB4-1E1A-3B1B227DE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BA1F-4059-4662-8FCB-70C02FA34C24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1DA6F-1EA2-F62F-4B07-660DA2308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B42C4-7FD0-0C7A-0ED3-B9861B57F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943B-93D4-4F56-AE96-133B58FC1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398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2BA17-191A-D3C9-2AD8-3474AA13F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ABD51-B9D8-75AE-749F-A611E61D8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AB435-CFBE-FE62-C731-531508B15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BA1F-4059-4662-8FCB-70C02FA34C24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BE3D2-C77F-151A-F0F8-91F6F8B43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A2232-7AFE-A62D-448B-5810DC7F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943B-93D4-4F56-AE96-133B58FC1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81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9A464-E21A-083B-0EEE-CBADD3ED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B49EA-9182-7F84-FB4F-CCE8AA8AA3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4BD27F-EEEB-0B57-F291-3A763C567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3C57D-B708-ED5D-923F-10457FFC4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BA1F-4059-4662-8FCB-70C02FA34C24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FC39-7417-D8F4-1BB3-44CB9DCA0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2EB26-ADE6-4762-86C2-738B12EBD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943B-93D4-4F56-AE96-133B58FC1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134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3412-7ED8-39B5-47E1-C22E7CFEE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23BED-C7C3-D79E-0EF3-E60C86FF8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7B575-AAB4-F55A-0852-F9B268654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7A79F9-0307-82E9-1A8A-3F221F22F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1B0B05-2B1C-9A6F-B1F3-AB964BD831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083707-B9B3-CE0D-54EE-4B847CB7B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BA1F-4059-4662-8FCB-70C02FA34C24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D408A3-83A0-91D2-467B-C8DC443A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F76337-1646-3F91-E452-1D5B0071B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943B-93D4-4F56-AE96-133B58FC1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192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EF0A-AB49-B9BE-629E-F57E1144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63F20-4658-181B-7BFA-D3C107AA7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BA1F-4059-4662-8FCB-70C02FA34C24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FE2C14-44FB-0A07-25A7-B0EBFA4D2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59E30-F253-E960-DE25-279974725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943B-93D4-4F56-AE96-133B58FC1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022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6B3588-B366-F1D0-D211-1631B0A91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BA1F-4059-4662-8FCB-70C02FA34C24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5355E-42A3-E0FE-F861-449DC061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42792-FDE1-39A5-2827-5DE3BA77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943B-93D4-4F56-AE96-133B58FC1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917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0F914-8D37-9169-10A7-631B1436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02BAC-7739-D1C3-68F6-CEC21BBBE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888B5-AE92-31F0-294B-BACDA2DCC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2730D-8C64-D5BD-5F59-8ED5ACB6D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BA1F-4059-4662-8FCB-70C02FA34C24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A5768-1D27-8712-F7DE-018022CC4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49140-F26F-3E4D-ED3B-6686E11D0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943B-93D4-4F56-AE96-133B58FC1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455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775F-DC0B-CAFF-1BD0-168F7C01F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6FA6C1-450C-3921-47FC-B4F9801006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1EF64-06E2-8259-CB14-7D66D60E4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D872B-1D8C-AC65-B264-C85B738F0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BA1F-4059-4662-8FCB-70C02FA34C24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DE92E-E2F6-A70B-F7F2-7ECDDE0D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308D4-20AB-C1D2-281C-A5A490AF7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943B-93D4-4F56-AE96-133B58FC1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942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EEC7-6FC3-6F67-86D6-B0441A3F8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5CD0A-F800-C614-F884-2D931C09E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1CC2F-C4A1-B530-9E08-E394E040B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BA1F-4059-4662-8FCB-70C02FA34C24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17B6E-CB5A-41FC-8671-370F45D95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AE7B9-9EF4-1800-834C-8D8BDA86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943B-93D4-4F56-AE96-133B58FC1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8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038DD-EEED-C815-F92A-758E7B345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7A541-2350-9ECF-6B07-DD53B12D5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FB6F3-A38A-B9A1-D042-A0962140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BA1F-4059-4662-8FCB-70C02FA34C24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4C53D-9F46-1DA0-F87E-5BE7DC6D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19F8D-2E4D-8592-B4D2-9B5B7644A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A943B-93D4-4F56-AE96-133B58FC1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969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5E1DA8-F0C2-3CA8-A565-0931C9435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5F47F-6984-FA08-18DC-44BD5F2F8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27C01-4662-8C1F-B250-352B366185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6BA1F-4059-4662-8FCB-70C02FA34C24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106D0-065B-20E9-47F1-190B3C5B2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CB0A3-AB40-D6A7-4C9A-869B081CC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A943B-93D4-4F56-AE96-133B58FC1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81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C7E1959-11E5-ED84-27D4-80B2EABAE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54265" cy="86390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Alert: Uniqlo is Losing the Value War to H&amp;M.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155E414-3625-A210-D513-B07FAC71F9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3068209"/>
              </p:ext>
            </p:extLst>
          </p:nvPr>
        </p:nvGraphicFramePr>
        <p:xfrm>
          <a:off x="4699819" y="1229031"/>
          <a:ext cx="7238569" cy="5263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44A9146-79EA-375A-9667-3F3B338CDC6C}"/>
              </a:ext>
            </a:extLst>
          </p:cNvPr>
          <p:cNvSpPr txBox="1"/>
          <p:nvPr/>
        </p:nvSpPr>
        <p:spPr>
          <a:xfrm>
            <a:off x="838200" y="1602658"/>
            <a:ext cx="3635477" cy="3278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Book Antiqua" panose="02040602050305030304" pitchFamily="18" charset="0"/>
                <a:cs typeface="Courier New" panose="02070309020205020404" pitchFamily="49" charset="0"/>
              </a:rPr>
              <a:t>We are currently positioned in the </a:t>
            </a:r>
            <a:r>
              <a:rPr lang="en-US" sz="2000" dirty="0">
                <a:highlight>
                  <a:srgbClr val="FFFF00"/>
                </a:highlight>
                <a:latin typeface="Book Antiqua" panose="02040602050305030304" pitchFamily="18" charset="0"/>
                <a:cs typeface="Courier New" panose="02070309020205020404" pitchFamily="49" charset="0"/>
              </a:rPr>
              <a:t>'Danger Zone'—High Price, Average Quality</a:t>
            </a:r>
            <a:r>
              <a:rPr lang="en-US" sz="2000" dirty="0">
                <a:latin typeface="Book Antiqua" panose="02040602050305030304" pitchFamily="18" charset="0"/>
                <a:cs typeface="Courier New" panose="02070309020205020404" pitchFamily="49" charset="0"/>
              </a:rPr>
              <a:t>. Meanwhile, H&amp;M is delivering the exact same quality (</a:t>
            </a:r>
            <a:r>
              <a:rPr lang="en-US" sz="2000" dirty="0">
                <a:highlight>
                  <a:srgbClr val="FFFF00"/>
                </a:highlight>
                <a:latin typeface="Book Antiqua" panose="02040602050305030304" pitchFamily="18" charset="0"/>
                <a:cs typeface="Courier New" panose="02070309020205020404" pitchFamily="49" charset="0"/>
              </a:rPr>
              <a:t>4.07 rating</a:t>
            </a:r>
            <a:r>
              <a:rPr lang="en-US" sz="2000" dirty="0">
                <a:latin typeface="Book Antiqua" panose="02040602050305030304" pitchFamily="18" charset="0"/>
                <a:cs typeface="Courier New" panose="02070309020205020404" pitchFamily="49" charset="0"/>
              </a:rPr>
              <a:t>) for </a:t>
            </a:r>
            <a:r>
              <a:rPr lang="en-US" sz="2000" dirty="0">
                <a:highlight>
                  <a:srgbClr val="FFFF00"/>
                </a:highlight>
                <a:latin typeface="Book Antiqua" panose="02040602050305030304" pitchFamily="18" charset="0"/>
                <a:cs typeface="Courier New" panose="02070309020205020404" pitchFamily="49" charset="0"/>
              </a:rPr>
              <a:t>35% less cost</a:t>
            </a:r>
            <a:r>
              <a:rPr lang="en-US" sz="2000" dirty="0">
                <a:latin typeface="Book Antiqua" panose="02040602050305030304" pitchFamily="18" charset="0"/>
                <a:cs typeface="Courier New" panose="02070309020205020404" pitchFamily="49" charset="0"/>
              </a:rPr>
              <a:t>.</a:t>
            </a:r>
            <a:endParaRPr lang="en-IN" sz="2000" dirty="0">
              <a:latin typeface="Book Antiqua" panose="0204060205030503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582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FF7A-A487-B71A-97A5-8FF1360B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7" y="325796"/>
            <a:ext cx="10390239" cy="109004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Cause: We Are Charging Luxury Premiums for Basic Materials.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AA13737-2F3C-031B-CAC4-5EDB3B8078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0387107"/>
              </p:ext>
            </p:extLst>
          </p:nvPr>
        </p:nvGraphicFramePr>
        <p:xfrm>
          <a:off x="4326194" y="1498327"/>
          <a:ext cx="7515122" cy="4912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2DB4684-6549-D88B-7804-412673793BA2}"/>
              </a:ext>
            </a:extLst>
          </p:cNvPr>
          <p:cNvSpPr txBox="1"/>
          <p:nvPr/>
        </p:nvSpPr>
        <p:spPr>
          <a:xfrm>
            <a:off x="739877" y="1622323"/>
            <a:ext cx="3497826" cy="3278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Book Antiqua" panose="02040602050305030304" pitchFamily="18" charset="0"/>
              </a:rPr>
              <a:t>Our 'Premium' pricing is not supported by product differentiation. We are charging $300 more for the exact same Cotton, leading to a 4.61 popularity score vs. H&amp;M’s 5.25.</a:t>
            </a:r>
            <a:endParaRPr lang="en-IN" sz="2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551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7E904-B947-A835-A1CE-2614E7B06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10272252" cy="118837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Strategy: Immediate Repricing to Reclaim 15% Market Share.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F574E-781E-3D89-A0BC-3E77B62A5497}"/>
              </a:ext>
            </a:extLst>
          </p:cNvPr>
          <p:cNvSpPr txBox="1"/>
          <p:nvPr/>
        </p:nvSpPr>
        <p:spPr>
          <a:xfrm>
            <a:off x="973394" y="1661652"/>
            <a:ext cx="9635612" cy="1699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Book Antiqua" panose="02040602050305030304" pitchFamily="18" charset="0"/>
              </a:rPr>
              <a:t>We do not need to lower quality. We simply need to align pricing with market reality. By dropping Cotton prices to $450, we neutralize H&amp;M's advantage immediately.</a:t>
            </a:r>
            <a:endParaRPr lang="en-IN" sz="2400" dirty="0">
              <a:latin typeface="Book Antiqua" panose="0204060205030503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46ADAD-193F-69E4-6866-A470515A5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186353"/>
              </p:ext>
            </p:extLst>
          </p:nvPr>
        </p:nvGraphicFramePr>
        <p:xfrm>
          <a:off x="1317522" y="3361348"/>
          <a:ext cx="9291484" cy="326500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22871">
                  <a:extLst>
                    <a:ext uri="{9D8B030D-6E8A-4147-A177-3AD203B41FA5}">
                      <a16:colId xmlns:a16="http://schemas.microsoft.com/office/drawing/2014/main" val="768883685"/>
                    </a:ext>
                  </a:extLst>
                </a:gridCol>
                <a:gridCol w="2322871">
                  <a:extLst>
                    <a:ext uri="{9D8B030D-6E8A-4147-A177-3AD203B41FA5}">
                      <a16:colId xmlns:a16="http://schemas.microsoft.com/office/drawing/2014/main" val="267069951"/>
                    </a:ext>
                  </a:extLst>
                </a:gridCol>
                <a:gridCol w="2322871">
                  <a:extLst>
                    <a:ext uri="{9D8B030D-6E8A-4147-A177-3AD203B41FA5}">
                      <a16:colId xmlns:a16="http://schemas.microsoft.com/office/drawing/2014/main" val="383968457"/>
                    </a:ext>
                  </a:extLst>
                </a:gridCol>
                <a:gridCol w="2322871">
                  <a:extLst>
                    <a:ext uri="{9D8B030D-6E8A-4147-A177-3AD203B41FA5}">
                      <a16:colId xmlns:a16="http://schemas.microsoft.com/office/drawing/2014/main" val="2488050971"/>
                    </a:ext>
                  </a:extLst>
                </a:gridCol>
              </a:tblGrid>
              <a:tr h="556146">
                <a:tc>
                  <a:txBody>
                    <a:bodyPr/>
                    <a:lstStyle/>
                    <a:p>
                      <a:r>
                        <a:rPr lang="en-US" dirty="0"/>
                        <a:t>Materials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Price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Price &lt;15%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Projected Rating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5367140"/>
                  </a:ext>
                </a:extLst>
              </a:tr>
              <a:tr h="5561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Cashmere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677.98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576.28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585134"/>
                  </a:ext>
                </a:extLst>
              </a:tr>
              <a:tr h="4842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Cotton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738.25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627.51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07613"/>
                  </a:ext>
                </a:extLst>
              </a:tr>
              <a:tr h="5561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Leather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644.97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548.22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3584036"/>
                  </a:ext>
                </a:extLst>
              </a:tr>
              <a:tr h="5561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Down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618.525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525.75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283470"/>
                  </a:ext>
                </a:extLst>
              </a:tr>
              <a:tr h="5561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Fleece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439.445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373.53</a:t>
                      </a:r>
                    </a:p>
                  </a:txBody>
                  <a:tcPr marL="7620" marR="7620" marT="762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922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8870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179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Book Antiqua</vt:lpstr>
      <vt:lpstr>Calibri</vt:lpstr>
      <vt:lpstr>Calibri Light</vt:lpstr>
      <vt:lpstr>Times New Roman</vt:lpstr>
      <vt:lpstr>Office Theme</vt:lpstr>
      <vt:lpstr>Critical Alert: Uniqlo is Losing the Value War to H&amp;M.</vt:lpstr>
      <vt:lpstr>Root Cause: We Are Charging Luxury Premiums for Basic Materials.</vt:lpstr>
      <vt:lpstr>Strategy: Immediate Repricing to Reclaim 15% Market Share.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 Utekar</dc:creator>
  <cp:lastModifiedBy>Sahil Utekar</cp:lastModifiedBy>
  <cp:revision>2</cp:revision>
  <dcterms:created xsi:type="dcterms:W3CDTF">2025-12-07T12:37:51Z</dcterms:created>
  <dcterms:modified xsi:type="dcterms:W3CDTF">2025-12-07T13:05:12Z</dcterms:modified>
</cp:coreProperties>
</file>